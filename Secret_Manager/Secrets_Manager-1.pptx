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10"/>
  </p:notesMasterIdLst>
  <p:sldIdLst>
    <p:sldId id="264" r:id="rId2"/>
    <p:sldId id="269" r:id="rId3"/>
    <p:sldId id="268" r:id="rId4"/>
    <p:sldId id="270" r:id="rId5"/>
    <p:sldId id="271" r:id="rId6"/>
    <p:sldId id="273" r:id="rId7"/>
    <p:sldId id="274" r:id="rId8"/>
    <p:sldId id="27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261C0A-497B-45C6-92AB-4FEC98BBC560}" v="49" dt="2026-01-08T17:36:03.4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HAN MADAN" userId="60365df6-8cef-4ac2-a2ad-91c410f51528" providerId="ADAL" clId="{6FCA31CB-5F04-482E-8D83-E86CEFF01AB6}"/>
    <pc:docChg chg="undo redo custSel addSld delSld modSld sldOrd">
      <pc:chgData name="ROHAN MADAN" userId="60365df6-8cef-4ac2-a2ad-91c410f51528" providerId="ADAL" clId="{6FCA31CB-5F04-482E-8D83-E86CEFF01AB6}" dt="2026-01-08T17:36:18.588" v="2600" actId="2890"/>
      <pc:docMkLst>
        <pc:docMk/>
      </pc:docMkLst>
      <pc:sldChg chg="addSp delSp modSp mod">
        <pc:chgData name="ROHAN MADAN" userId="60365df6-8cef-4ac2-a2ad-91c410f51528" providerId="ADAL" clId="{6FCA31CB-5F04-482E-8D83-E86CEFF01AB6}" dt="2026-01-08T17:16:05.378" v="2461" actId="403"/>
        <pc:sldMkLst>
          <pc:docMk/>
          <pc:sldMk cId="2958942382" sldId="264"/>
        </pc:sldMkLst>
        <pc:spChg chg="mod">
          <ac:chgData name="ROHAN MADAN" userId="60365df6-8cef-4ac2-a2ad-91c410f51528" providerId="ADAL" clId="{6FCA31CB-5F04-482E-8D83-E86CEFF01AB6}" dt="2026-01-08T17:12:50.811" v="2400" actId="20577"/>
          <ac:spMkLst>
            <pc:docMk/>
            <pc:sldMk cId="2958942382" sldId="264"/>
            <ac:spMk id="2" creationId="{DD119394-D2F5-381A-06FA-25D29D0C7E4B}"/>
          </ac:spMkLst>
        </pc:spChg>
        <pc:spChg chg="add del mod">
          <ac:chgData name="ROHAN MADAN" userId="60365df6-8cef-4ac2-a2ad-91c410f51528" providerId="ADAL" clId="{6FCA31CB-5F04-482E-8D83-E86CEFF01AB6}" dt="2026-01-08T17:16:05.378" v="2461" actId="403"/>
          <ac:spMkLst>
            <pc:docMk/>
            <pc:sldMk cId="2958942382" sldId="264"/>
            <ac:spMk id="5" creationId="{B3B72E88-B46B-5F9A-4784-0F0803705ED7}"/>
          </ac:spMkLst>
        </pc:spChg>
      </pc:sldChg>
      <pc:sldChg chg="addSp delSp modSp mod ord">
        <pc:chgData name="ROHAN MADAN" userId="60365df6-8cef-4ac2-a2ad-91c410f51528" providerId="ADAL" clId="{6FCA31CB-5F04-482E-8D83-E86CEFF01AB6}" dt="2026-01-08T17:18:41.505" v="2477" actId="14734"/>
        <pc:sldMkLst>
          <pc:docMk/>
          <pc:sldMk cId="2514265251" sldId="268"/>
        </pc:sldMkLst>
        <pc:spChg chg="mod">
          <ac:chgData name="ROHAN MADAN" userId="60365df6-8cef-4ac2-a2ad-91c410f51528" providerId="ADAL" clId="{6FCA31CB-5F04-482E-8D83-E86CEFF01AB6}" dt="2026-01-08T17:17:45.762" v="2466" actId="404"/>
          <ac:spMkLst>
            <pc:docMk/>
            <pc:sldMk cId="2514265251" sldId="268"/>
            <ac:spMk id="2" creationId="{7723ABD1-4445-E176-9666-BAB0C1D338B7}"/>
          </ac:spMkLst>
        </pc:spChg>
        <pc:spChg chg="add">
          <ac:chgData name="ROHAN MADAN" userId="60365df6-8cef-4ac2-a2ad-91c410f51528" providerId="ADAL" clId="{6FCA31CB-5F04-482E-8D83-E86CEFF01AB6}" dt="2026-01-08T17:17:27.132" v="2462"/>
          <ac:spMkLst>
            <pc:docMk/>
            <pc:sldMk cId="2514265251" sldId="268"/>
            <ac:spMk id="3" creationId="{03A814B5-C6B4-1079-7261-5EA02A8895F4}"/>
          </ac:spMkLst>
        </pc:spChg>
        <pc:spChg chg="add del mod">
          <ac:chgData name="ROHAN MADAN" userId="60365df6-8cef-4ac2-a2ad-91c410f51528" providerId="ADAL" clId="{6FCA31CB-5F04-482E-8D83-E86CEFF01AB6}" dt="2026-01-08T17:18:04.733" v="2468" actId="3680"/>
          <ac:spMkLst>
            <pc:docMk/>
            <pc:sldMk cId="2514265251" sldId="268"/>
            <ac:spMk id="5" creationId="{66C9BA85-8F17-7A73-C12F-AFCE6510A7A9}"/>
          </ac:spMkLst>
        </pc:spChg>
        <pc:graphicFrameChg chg="add mod ord modGraphic">
          <ac:chgData name="ROHAN MADAN" userId="60365df6-8cef-4ac2-a2ad-91c410f51528" providerId="ADAL" clId="{6FCA31CB-5F04-482E-8D83-E86CEFF01AB6}" dt="2026-01-08T17:18:41.505" v="2477" actId="14734"/>
          <ac:graphicFrameMkLst>
            <pc:docMk/>
            <pc:sldMk cId="2514265251" sldId="268"/>
            <ac:graphicFrameMk id="4" creationId="{D6C65865-3213-AD34-AE86-D9456CA9D64C}"/>
          </ac:graphicFrameMkLst>
        </pc:graphicFrameChg>
      </pc:sldChg>
      <pc:sldChg chg="modSp add mod ord">
        <pc:chgData name="ROHAN MADAN" userId="60365df6-8cef-4ac2-a2ad-91c410f51528" providerId="ADAL" clId="{6FCA31CB-5F04-482E-8D83-E86CEFF01AB6}" dt="2026-01-08T17:15:49.650" v="2456" actId="27636"/>
        <pc:sldMkLst>
          <pc:docMk/>
          <pc:sldMk cId="892809935" sldId="269"/>
        </pc:sldMkLst>
        <pc:spChg chg="mod">
          <ac:chgData name="ROHAN MADAN" userId="60365df6-8cef-4ac2-a2ad-91c410f51528" providerId="ADAL" clId="{6FCA31CB-5F04-482E-8D83-E86CEFF01AB6}" dt="2026-01-08T17:15:46.176" v="2454" actId="20577"/>
          <ac:spMkLst>
            <pc:docMk/>
            <pc:sldMk cId="892809935" sldId="269"/>
            <ac:spMk id="2" creationId="{0A0749EB-F545-11DD-99F9-8A5EDE2AF774}"/>
          </ac:spMkLst>
        </pc:spChg>
        <pc:spChg chg="mod">
          <ac:chgData name="ROHAN MADAN" userId="60365df6-8cef-4ac2-a2ad-91c410f51528" providerId="ADAL" clId="{6FCA31CB-5F04-482E-8D83-E86CEFF01AB6}" dt="2026-01-08T17:15:49.650" v="2456" actId="27636"/>
          <ac:spMkLst>
            <pc:docMk/>
            <pc:sldMk cId="892809935" sldId="269"/>
            <ac:spMk id="5" creationId="{E89F3BD8-3DF0-B01D-8050-52BE576C2C9F}"/>
          </ac:spMkLst>
        </pc:spChg>
      </pc:sldChg>
      <pc:sldChg chg="addSp delSp modSp add mod">
        <pc:chgData name="ROHAN MADAN" userId="60365df6-8cef-4ac2-a2ad-91c410f51528" providerId="ADAL" clId="{6FCA31CB-5F04-482E-8D83-E86CEFF01AB6}" dt="2026-01-08T17:19:51.598" v="2489" actId="1076"/>
        <pc:sldMkLst>
          <pc:docMk/>
          <pc:sldMk cId="3542950881" sldId="270"/>
        </pc:sldMkLst>
        <pc:spChg chg="mod">
          <ac:chgData name="ROHAN MADAN" userId="60365df6-8cef-4ac2-a2ad-91c410f51528" providerId="ADAL" clId="{6FCA31CB-5F04-482E-8D83-E86CEFF01AB6}" dt="2026-01-08T17:19:05.379" v="2478"/>
          <ac:spMkLst>
            <pc:docMk/>
            <pc:sldMk cId="3542950881" sldId="270"/>
            <ac:spMk id="2" creationId="{5EBDD824-9F53-7A2F-87DC-B25826C5E6DC}"/>
          </ac:spMkLst>
        </pc:spChg>
        <pc:spChg chg="del mod">
          <ac:chgData name="ROHAN MADAN" userId="60365df6-8cef-4ac2-a2ad-91c410f51528" providerId="ADAL" clId="{6FCA31CB-5F04-482E-8D83-E86CEFF01AB6}" dt="2026-01-08T17:19:23.926" v="2481" actId="3680"/>
          <ac:spMkLst>
            <pc:docMk/>
            <pc:sldMk cId="3542950881" sldId="270"/>
            <ac:spMk id="5" creationId="{F42610B4-6AE2-3405-BAC8-E1583A2D18EC}"/>
          </ac:spMkLst>
        </pc:spChg>
        <pc:graphicFrameChg chg="add mod ord modGraphic">
          <ac:chgData name="ROHAN MADAN" userId="60365df6-8cef-4ac2-a2ad-91c410f51528" providerId="ADAL" clId="{6FCA31CB-5F04-482E-8D83-E86CEFF01AB6}" dt="2026-01-08T17:19:51.598" v="2489" actId="1076"/>
          <ac:graphicFrameMkLst>
            <pc:docMk/>
            <pc:sldMk cId="3542950881" sldId="270"/>
            <ac:graphicFrameMk id="3" creationId="{0427A6F2-A087-6D5F-030E-0F4CB87F2722}"/>
          </ac:graphicFrameMkLst>
        </pc:graphicFrameChg>
      </pc:sldChg>
      <pc:sldChg chg="addSp modSp add mod">
        <pc:chgData name="ROHAN MADAN" userId="60365df6-8cef-4ac2-a2ad-91c410f51528" providerId="ADAL" clId="{6FCA31CB-5F04-482E-8D83-E86CEFF01AB6}" dt="2026-01-08T17:30:23.828" v="2549" actId="27636"/>
        <pc:sldMkLst>
          <pc:docMk/>
          <pc:sldMk cId="2242133389" sldId="271"/>
        </pc:sldMkLst>
        <pc:spChg chg="mod">
          <ac:chgData name="ROHAN MADAN" userId="60365df6-8cef-4ac2-a2ad-91c410f51528" providerId="ADAL" clId="{6FCA31CB-5F04-482E-8D83-E86CEFF01AB6}" dt="2026-01-08T17:21:59.718" v="2493" actId="20577"/>
          <ac:spMkLst>
            <pc:docMk/>
            <pc:sldMk cId="2242133389" sldId="271"/>
            <ac:spMk id="2" creationId="{6C01DB6A-2B4E-8EF6-F5C0-EBF934CFC2D5}"/>
          </ac:spMkLst>
        </pc:spChg>
        <pc:spChg chg="add">
          <ac:chgData name="ROHAN MADAN" userId="60365df6-8cef-4ac2-a2ad-91c410f51528" providerId="ADAL" clId="{6FCA31CB-5F04-482E-8D83-E86CEFF01AB6}" dt="2026-01-08T17:26:20.227" v="2496"/>
          <ac:spMkLst>
            <pc:docMk/>
            <pc:sldMk cId="2242133389" sldId="271"/>
            <ac:spMk id="3" creationId="{4721946F-E998-A2DB-5D68-F7B1086251FE}"/>
          </ac:spMkLst>
        </pc:spChg>
        <pc:spChg chg="add">
          <ac:chgData name="ROHAN MADAN" userId="60365df6-8cef-4ac2-a2ad-91c410f51528" providerId="ADAL" clId="{6FCA31CB-5F04-482E-8D83-E86CEFF01AB6}" dt="2026-01-08T17:27:45.041" v="2520"/>
          <ac:spMkLst>
            <pc:docMk/>
            <pc:sldMk cId="2242133389" sldId="271"/>
            <ac:spMk id="4" creationId="{F4C97223-5EEA-3BCB-64CF-D332B63C6DFA}"/>
          </ac:spMkLst>
        </pc:spChg>
        <pc:spChg chg="mod">
          <ac:chgData name="ROHAN MADAN" userId="60365df6-8cef-4ac2-a2ad-91c410f51528" providerId="ADAL" clId="{6FCA31CB-5F04-482E-8D83-E86CEFF01AB6}" dt="2026-01-08T17:30:23.828" v="2549" actId="27636"/>
          <ac:spMkLst>
            <pc:docMk/>
            <pc:sldMk cId="2242133389" sldId="271"/>
            <ac:spMk id="5" creationId="{9BED68BA-93B1-FCBD-6857-CBB58C89F618}"/>
          </ac:spMkLst>
        </pc:spChg>
      </pc:sldChg>
      <pc:sldChg chg="modSp add mod">
        <pc:chgData name="ROHAN MADAN" userId="60365df6-8cef-4ac2-a2ad-91c410f51528" providerId="ADAL" clId="{6FCA31CB-5F04-482E-8D83-E86CEFF01AB6}" dt="2026-01-08T17:32:30.997" v="2576"/>
        <pc:sldMkLst>
          <pc:docMk/>
          <pc:sldMk cId="3784460436" sldId="273"/>
        </pc:sldMkLst>
        <pc:spChg chg="mod">
          <ac:chgData name="ROHAN MADAN" userId="60365df6-8cef-4ac2-a2ad-91c410f51528" providerId="ADAL" clId="{6FCA31CB-5F04-482E-8D83-E86CEFF01AB6}" dt="2026-01-08T17:31:11.244" v="2552" actId="20577"/>
          <ac:spMkLst>
            <pc:docMk/>
            <pc:sldMk cId="3784460436" sldId="273"/>
            <ac:spMk id="2" creationId="{35571A01-255E-55DB-9D1A-12D96F7221DB}"/>
          </ac:spMkLst>
        </pc:spChg>
        <pc:spChg chg="mod">
          <ac:chgData name="ROHAN MADAN" userId="60365df6-8cef-4ac2-a2ad-91c410f51528" providerId="ADAL" clId="{6FCA31CB-5F04-482E-8D83-E86CEFF01AB6}" dt="2026-01-08T17:32:30.997" v="2576"/>
          <ac:spMkLst>
            <pc:docMk/>
            <pc:sldMk cId="3784460436" sldId="273"/>
            <ac:spMk id="5" creationId="{2054C751-628D-44F1-EFEF-961618CB9994}"/>
          </ac:spMkLst>
        </pc:spChg>
      </pc:sldChg>
      <pc:sldChg chg="modSp add mod">
        <pc:chgData name="ROHAN MADAN" userId="60365df6-8cef-4ac2-a2ad-91c410f51528" providerId="ADAL" clId="{6FCA31CB-5F04-482E-8D83-E86CEFF01AB6}" dt="2026-01-08T17:36:14.266" v="2599" actId="207"/>
        <pc:sldMkLst>
          <pc:docMk/>
          <pc:sldMk cId="449678935" sldId="274"/>
        </pc:sldMkLst>
        <pc:spChg chg="mod">
          <ac:chgData name="ROHAN MADAN" userId="60365df6-8cef-4ac2-a2ad-91c410f51528" providerId="ADAL" clId="{6FCA31CB-5F04-482E-8D83-E86CEFF01AB6}" dt="2026-01-08T17:34:20.717" v="2582" actId="20577"/>
          <ac:spMkLst>
            <pc:docMk/>
            <pc:sldMk cId="449678935" sldId="274"/>
            <ac:spMk id="2" creationId="{41A03828-02DC-38E4-427A-AAD8F80EE6E7}"/>
          </ac:spMkLst>
        </pc:spChg>
        <pc:spChg chg="mod">
          <ac:chgData name="ROHAN MADAN" userId="60365df6-8cef-4ac2-a2ad-91c410f51528" providerId="ADAL" clId="{6FCA31CB-5F04-482E-8D83-E86CEFF01AB6}" dt="2026-01-08T17:36:14.266" v="2599" actId="207"/>
          <ac:spMkLst>
            <pc:docMk/>
            <pc:sldMk cId="449678935" sldId="274"/>
            <ac:spMk id="5" creationId="{9D1904A1-4562-DF51-1059-B7A80835FC7E}"/>
          </ac:spMkLst>
        </pc:spChg>
      </pc:sldChg>
      <pc:sldChg chg="new del">
        <pc:chgData name="ROHAN MADAN" userId="60365df6-8cef-4ac2-a2ad-91c410f51528" providerId="ADAL" clId="{6FCA31CB-5F04-482E-8D83-E86CEFF01AB6}" dt="2026-01-08T17:34:11.084" v="2578" actId="2696"/>
        <pc:sldMkLst>
          <pc:docMk/>
          <pc:sldMk cId="1512992860" sldId="274"/>
        </pc:sldMkLst>
      </pc:sldChg>
      <pc:sldChg chg="add">
        <pc:chgData name="ROHAN MADAN" userId="60365df6-8cef-4ac2-a2ad-91c410f51528" providerId="ADAL" clId="{6FCA31CB-5F04-482E-8D83-E86CEFF01AB6}" dt="2026-01-08T17:36:18.588" v="2600" actId="2890"/>
        <pc:sldMkLst>
          <pc:docMk/>
          <pc:sldMk cId="709646031" sldId="2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52BB4-4BDD-4E4C-AC9D-15F585D10217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A9E73-976B-4B28-A10B-2BAAA158D9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5046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A9E73-976B-4B28-A10B-2BAAA158D940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24230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26CA1-3EBC-4EE1-AE5B-0B1876559053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BAE55-40E9-4BB5-B414-C4BBE4CC18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5830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26CA1-3EBC-4EE1-AE5B-0B1876559053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BAE55-40E9-4BB5-B414-C4BBE4CC18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2456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26CA1-3EBC-4EE1-AE5B-0B1876559053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BAE55-40E9-4BB5-B414-C4BBE4CC18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6780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26CA1-3EBC-4EE1-AE5B-0B1876559053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BAE55-40E9-4BB5-B414-C4BBE4CC18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1808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26CA1-3EBC-4EE1-AE5B-0B1876559053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BAE55-40E9-4BB5-B414-C4BBE4CC18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6790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26CA1-3EBC-4EE1-AE5B-0B1876559053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BAE55-40E9-4BB5-B414-C4BBE4CC18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9535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26CA1-3EBC-4EE1-AE5B-0B1876559053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BAE55-40E9-4BB5-B414-C4BBE4CC18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0948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26CA1-3EBC-4EE1-AE5B-0B1876559053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BAE55-40E9-4BB5-B414-C4BBE4CC18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9615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26CA1-3EBC-4EE1-AE5B-0B1876559053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BAE55-40E9-4BB5-B414-C4BBE4CC18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6625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26CA1-3EBC-4EE1-AE5B-0B1876559053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BAE55-40E9-4BB5-B414-C4BBE4CC18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3472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26CA1-3EBC-4EE1-AE5B-0B1876559053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BAE55-40E9-4BB5-B414-C4BBE4CC187E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25411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26CA1-3EBC-4EE1-AE5B-0B1876559053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BAE55-40E9-4BB5-B414-C4BBE4CC18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39772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26CA1-3EBC-4EE1-AE5B-0B1876559053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BAE55-40E9-4BB5-B414-C4BBE4CC187E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841598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26CA1-3EBC-4EE1-AE5B-0B1876559053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BAE55-40E9-4BB5-B414-C4BBE4CC18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93947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26CA1-3EBC-4EE1-AE5B-0B1876559053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BAE55-40E9-4BB5-B414-C4BBE4CC18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96464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26CA1-3EBC-4EE1-AE5B-0B1876559053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FBAE55-40E9-4BB5-B414-C4BBE4CC18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0732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E26CA1-3EBC-4EE1-AE5B-0B1876559053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AFBAE55-40E9-4BB5-B414-C4BBE4CC18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8702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cloud.google.com/secret-manager/docs/creating-and-accessing-secret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cloud.google.com/secret-manager/docs/add-secret-version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cloud.google.com/secret-manager/docs/choosing-replication#automatic" TargetMode="External"/><Relationship Id="rId2" Type="http://schemas.openxmlformats.org/officeDocument/2006/relationships/hyperlink" Target="https://docs.cloud.google.com/secret-manager/docs/choosing-replication#user-managed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cloud.google.com/secret-manager/docs/locations" TargetMode="External"/><Relationship Id="rId2" Type="http://schemas.openxmlformats.org/officeDocument/2006/relationships/hyperlink" Target="https://docs.cloud.google.com/secret-manager/pricing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cloud.google.com/secret-manager/docs/access-control#conditions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cloud.google.com/secret-manager/docs/access-control#condition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19394-D2F5-381A-06FA-25D29D0C7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" y="122131"/>
            <a:ext cx="10177599" cy="763989"/>
          </a:xfrm>
        </p:spPr>
        <p:txBody>
          <a:bodyPr>
            <a:normAutofit/>
          </a:bodyPr>
          <a:lstStyle/>
          <a:p>
            <a:r>
              <a:rPr lang="en-IN" dirty="0"/>
              <a:t>Secrets Manager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3B72E88-B46B-5F9A-4784-0F0803705E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658" y="969484"/>
            <a:ext cx="8834085" cy="5583715"/>
          </a:xfrm>
        </p:spPr>
        <p:txBody>
          <a:bodyPr>
            <a:normAutofit/>
          </a:bodyPr>
          <a:lstStyle/>
          <a:p>
            <a:r>
              <a:rPr lang="en-US" sz="2400" b="1" dirty="0"/>
              <a:t>Secret Manager is a secrets and credential management service that lets you store and manage sensitive data such as API keys, usernames, passwords, certificates, and more.</a:t>
            </a:r>
          </a:p>
          <a:p>
            <a:r>
              <a:rPr lang="en-US" sz="2400" b="1" dirty="0"/>
              <a:t>A </a:t>
            </a:r>
            <a:r>
              <a:rPr lang="en-US" sz="2400" b="1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secret</a:t>
            </a:r>
            <a:r>
              <a:rPr lang="en-US" sz="2400" b="1" dirty="0"/>
              <a:t> is a global resource that contains a collection of metadata and secret versions. The metadata can include labels, annotations, and permissions.</a:t>
            </a:r>
          </a:p>
          <a:p>
            <a:r>
              <a:rPr lang="en-US" sz="2400" b="1" dirty="0"/>
              <a:t>A </a:t>
            </a:r>
            <a:r>
              <a:rPr lang="en-US" sz="2400" b="1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secret version</a:t>
            </a:r>
            <a:r>
              <a:rPr lang="en-US" sz="2400" b="1" dirty="0"/>
              <a:t> stores the actual secret data, such as API keys, passwords, or certificates. Each version is identified by a unique ID or timestamp.</a:t>
            </a:r>
          </a:p>
        </p:txBody>
      </p:sp>
    </p:spTree>
    <p:extLst>
      <p:ext uri="{BB962C8B-B14F-4D97-AF65-F5344CB8AC3E}">
        <p14:creationId xmlns:p14="http://schemas.microsoft.com/office/powerpoint/2010/main" val="2958942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4377F-C159-51EF-8DF0-BBC9D9E05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749EB-F545-11DD-99F9-8A5EDE2AF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" y="122131"/>
            <a:ext cx="10177599" cy="763989"/>
          </a:xfrm>
        </p:spPr>
        <p:txBody>
          <a:bodyPr>
            <a:normAutofit fontScale="90000"/>
          </a:bodyPr>
          <a:lstStyle/>
          <a:p>
            <a:r>
              <a:rPr lang="en-US" dirty="0"/>
              <a:t>Use Cases Of Secret Manager</a:t>
            </a:r>
            <a:br>
              <a:rPr lang="en-US" dirty="0"/>
            </a:b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89F3BD8-3DF0-B01D-8050-52BE576C2C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659" y="969484"/>
            <a:ext cx="9421912" cy="558371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dirty="0"/>
              <a:t>Using Secret Manager, you can do the following:</a:t>
            </a:r>
          </a:p>
          <a:p>
            <a:r>
              <a:rPr lang="en-US" sz="2800" b="1" dirty="0"/>
              <a:t>Manage rollback, recovery, and auditing using versions</a:t>
            </a:r>
          </a:p>
          <a:p>
            <a:r>
              <a:rPr lang="en-US" sz="2800" b="1" dirty="0"/>
              <a:t>Encrypt your secret data in transit and at rest</a:t>
            </a:r>
          </a:p>
          <a:p>
            <a:r>
              <a:rPr lang="en-US" sz="2800" b="1" dirty="0"/>
              <a:t>Manage access to secrets using fine-grained Identity and Access Management (IAM) roles and conditions</a:t>
            </a:r>
          </a:p>
          <a:p>
            <a:r>
              <a:rPr lang="en-US" sz="2800" b="1" dirty="0"/>
              <a:t>Ensure high availability and disaster recovery with secret replication</a:t>
            </a:r>
          </a:p>
          <a:p>
            <a:r>
              <a:rPr lang="en-US" sz="2800" b="1" dirty="0"/>
              <a:t>Rotate secrets automatically to meet your security and compliance requirements</a:t>
            </a:r>
          </a:p>
          <a:p>
            <a:r>
              <a:rPr lang="en-US" sz="2800" b="1" dirty="0"/>
              <a:t>Enforce data residency using regional secrets</a:t>
            </a:r>
          </a:p>
          <a:p>
            <a:r>
              <a:rPr lang="en-US" sz="2800" b="1" dirty="0"/>
              <a:t>Manage operational parameters for your applications using Parameter Manager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892809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675C0-7FF6-BD8E-6BAB-394008222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3ABD1-4445-E176-9666-BAB0C1D33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" y="122131"/>
            <a:ext cx="10177599" cy="847353"/>
          </a:xfrm>
        </p:spPr>
        <p:txBody>
          <a:bodyPr>
            <a:noAutofit/>
          </a:bodyPr>
          <a:lstStyle/>
          <a:p>
            <a:r>
              <a:rPr lang="en-US" sz="2800" dirty="0"/>
              <a:t>Difference between secrets management and key management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6C65865-3213-AD34-AE86-D9456CA9D6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4043008"/>
              </p:ext>
            </p:extLst>
          </p:nvPr>
        </p:nvGraphicFramePr>
        <p:xfrm>
          <a:off x="163830" y="1233729"/>
          <a:ext cx="11392360" cy="4866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5992">
                  <a:extLst>
                    <a:ext uri="{9D8B030D-6E8A-4147-A177-3AD203B41FA5}">
                      <a16:colId xmlns:a16="http://schemas.microsoft.com/office/drawing/2014/main" val="3101631821"/>
                    </a:ext>
                  </a:extLst>
                </a:gridCol>
                <a:gridCol w="4426241">
                  <a:extLst>
                    <a:ext uri="{9D8B030D-6E8A-4147-A177-3AD203B41FA5}">
                      <a16:colId xmlns:a16="http://schemas.microsoft.com/office/drawing/2014/main" val="458629577"/>
                    </a:ext>
                  </a:extLst>
                </a:gridCol>
                <a:gridCol w="4680127">
                  <a:extLst>
                    <a:ext uri="{9D8B030D-6E8A-4147-A177-3AD203B41FA5}">
                      <a16:colId xmlns:a16="http://schemas.microsoft.com/office/drawing/2014/main" val="34094317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ctr">
                        <a:lnSpc>
                          <a:spcPts val="1500"/>
                        </a:lnSpc>
                        <a:buNone/>
                      </a:pPr>
                      <a:r>
                        <a:rPr lang="en-IN" b="0" dirty="0">
                          <a:solidFill>
                            <a:srgbClr val="202124"/>
                          </a:solidFill>
                          <a:effectLst/>
                          <a:latin typeface="Roboto" panose="02000000000000000000" pitchFamily="2" charset="0"/>
                        </a:rPr>
                        <a:t>Feature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500"/>
                        </a:lnSpc>
                        <a:buNone/>
                      </a:pPr>
                      <a:r>
                        <a:rPr lang="en-IN" b="0">
                          <a:solidFill>
                            <a:srgbClr val="202124"/>
                          </a:solidFill>
                          <a:effectLst/>
                          <a:latin typeface="Roboto" panose="02000000000000000000" pitchFamily="2" charset="0"/>
                        </a:rPr>
                        <a:t>Secret Manager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500"/>
                        </a:lnSpc>
                        <a:buNone/>
                      </a:pPr>
                      <a:r>
                        <a:rPr lang="en-IN" b="0">
                          <a:solidFill>
                            <a:srgbClr val="202124"/>
                          </a:solidFill>
                          <a:effectLst/>
                          <a:latin typeface="Roboto" panose="02000000000000000000" pitchFamily="2" charset="0"/>
                        </a:rPr>
                        <a:t>Cloud KMS</a:t>
                      </a: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9269101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>
                          <a:effectLst/>
                        </a:rPr>
                        <a:t>Primary function</a:t>
                      </a:r>
                    </a:p>
                  </a:txBody>
                  <a:tcPr marL="50800" marR="50800" marT="44450" marB="508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Store, manage, and access secrets as binary blobs or text strings.</a:t>
                      </a:r>
                    </a:p>
                  </a:txBody>
                  <a:tcPr marL="50800" marR="50800" marT="44450" marB="508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Manage cryptographic keys and use them to encrypt or decrypt data.</a:t>
                      </a:r>
                    </a:p>
                  </a:txBody>
                  <a:tcPr marL="50800" marR="50800" marT="44450" marB="50800"/>
                </a:tc>
                <a:extLst>
                  <a:ext uri="{0D108BD9-81ED-4DB2-BD59-A6C34878D82A}">
                    <a16:rowId xmlns:a16="http://schemas.microsoft.com/office/drawing/2014/main" val="40042429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>
                          <a:effectLst/>
                        </a:rPr>
                        <a:t>Data stored</a:t>
                      </a:r>
                    </a:p>
                  </a:txBody>
                  <a:tcPr marL="50800" marR="50800" marT="44450" marB="508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Actual secret values. With the appropriate permissions, you can view the contents of the secret.</a:t>
                      </a:r>
                    </a:p>
                  </a:txBody>
                  <a:tcPr marL="50800" marR="50800" marT="44450" marB="508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Cryptographic keys. You can't view, extract, or export the actual cryptographic secrets (the bits and bytes) that are used for encryption and decryption operations.</a:t>
                      </a:r>
                    </a:p>
                  </a:txBody>
                  <a:tcPr marL="50800" marR="50800" marT="44450" marB="50800"/>
                </a:tc>
                <a:extLst>
                  <a:ext uri="{0D108BD9-81ED-4DB2-BD59-A6C34878D82A}">
                    <a16:rowId xmlns:a16="http://schemas.microsoft.com/office/drawing/2014/main" val="24486522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>
                          <a:effectLst/>
                        </a:rPr>
                        <a:t>Encryption</a:t>
                      </a:r>
                    </a:p>
                  </a:txBody>
                  <a:tcPr marL="50800" marR="50800" marT="44450" marB="508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Encrypts secrets at rest and in transit using Google-owned and managed keys or customer-managed keys.</a:t>
                      </a:r>
                    </a:p>
                  </a:txBody>
                  <a:tcPr marL="50800" marR="50800" marT="44450" marB="508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Provides encryption and decryption capabilities for other services.</a:t>
                      </a:r>
                    </a:p>
                  </a:txBody>
                  <a:tcPr marL="50800" marR="50800" marT="44450" marB="50800"/>
                </a:tc>
                <a:extLst>
                  <a:ext uri="{0D108BD9-81ED-4DB2-BD59-A6C34878D82A}">
                    <a16:rowId xmlns:a16="http://schemas.microsoft.com/office/drawing/2014/main" val="1040874143"/>
                  </a:ext>
                </a:extLst>
              </a:tr>
              <a:tr h="125255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>
                          <a:effectLst/>
                        </a:rPr>
                        <a:t>Typical use cases</a:t>
                      </a:r>
                    </a:p>
                  </a:txBody>
                  <a:tcPr marL="50800" marR="50800" marT="44450" marB="508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dirty="0">
                          <a:effectLst/>
                        </a:rPr>
                        <a:t>Store configuration information such as database passwords, API keys, or TLS certificates needed by an application at runtime.</a:t>
                      </a:r>
                    </a:p>
                  </a:txBody>
                  <a:tcPr marL="50800" marR="50800" marT="44450" marB="508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dirty="0">
                          <a:effectLst/>
                        </a:rPr>
                        <a:t>Handle large encryption workloads, such as encrypting rows in a database or encrypting binary data such as images and files. You can also use Cloud KMS to perform other cryptographic operations such as signing and verification.</a:t>
                      </a:r>
                    </a:p>
                  </a:txBody>
                  <a:tcPr marL="50800" marR="50800" marT="44450" marB="50800"/>
                </a:tc>
                <a:extLst>
                  <a:ext uri="{0D108BD9-81ED-4DB2-BD59-A6C34878D82A}">
                    <a16:rowId xmlns:a16="http://schemas.microsoft.com/office/drawing/2014/main" val="4141887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4265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5A522-F764-9FA5-6E26-178C78FD8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DD824-9F53-7A2F-87DC-B25826C5E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" y="122131"/>
            <a:ext cx="10177599" cy="763989"/>
          </a:xfrm>
        </p:spPr>
        <p:txBody>
          <a:bodyPr>
            <a:normAutofit/>
          </a:bodyPr>
          <a:lstStyle/>
          <a:p>
            <a:r>
              <a:rPr lang="en-US" dirty="0"/>
              <a:t>Compare global and regional service</a:t>
            </a: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0427A6F2-A087-6D5F-030E-0F4CB87F27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3273831"/>
              </p:ext>
            </p:extLst>
          </p:nvPr>
        </p:nvGraphicFramePr>
        <p:xfrm>
          <a:off x="340405" y="886120"/>
          <a:ext cx="11056938" cy="57206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6595">
                  <a:extLst>
                    <a:ext uri="{9D8B030D-6E8A-4147-A177-3AD203B41FA5}">
                      <a16:colId xmlns:a16="http://schemas.microsoft.com/office/drawing/2014/main" val="2266374447"/>
                    </a:ext>
                  </a:extLst>
                </a:gridCol>
                <a:gridCol w="4212771">
                  <a:extLst>
                    <a:ext uri="{9D8B030D-6E8A-4147-A177-3AD203B41FA5}">
                      <a16:colId xmlns:a16="http://schemas.microsoft.com/office/drawing/2014/main" val="635378744"/>
                    </a:ext>
                  </a:extLst>
                </a:gridCol>
                <a:gridCol w="4517572">
                  <a:extLst>
                    <a:ext uri="{9D8B030D-6E8A-4147-A177-3AD203B41FA5}">
                      <a16:colId xmlns:a16="http://schemas.microsoft.com/office/drawing/2014/main" val="3755714889"/>
                    </a:ext>
                  </a:extLst>
                </a:gridCol>
              </a:tblGrid>
              <a:tr h="416879">
                <a:tc>
                  <a:txBody>
                    <a:bodyPr/>
                    <a:lstStyle/>
                    <a:p>
                      <a:pPr algn="l" fontAlgn="ctr">
                        <a:lnSpc>
                          <a:spcPts val="1500"/>
                        </a:lnSpc>
                        <a:buNone/>
                      </a:pPr>
                      <a:r>
                        <a:rPr lang="en-IN" b="0" dirty="0">
                          <a:solidFill>
                            <a:srgbClr val="202124"/>
                          </a:solidFill>
                          <a:effectLst/>
                          <a:latin typeface="Roboto" panose="02000000000000000000" pitchFamily="2" charset="0"/>
                        </a:rPr>
                        <a:t>Feature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500"/>
                        </a:lnSpc>
                        <a:buNone/>
                      </a:pPr>
                      <a:r>
                        <a:rPr lang="en-IN" b="0">
                          <a:solidFill>
                            <a:srgbClr val="202124"/>
                          </a:solidFill>
                          <a:effectLst/>
                          <a:latin typeface="Roboto" panose="02000000000000000000" pitchFamily="2" charset="0"/>
                        </a:rPr>
                        <a:t>Global service</a:t>
                      </a: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500"/>
                        </a:lnSpc>
                        <a:buNone/>
                      </a:pPr>
                      <a:r>
                        <a:rPr lang="en-IN" b="0">
                          <a:solidFill>
                            <a:srgbClr val="202124"/>
                          </a:solidFill>
                          <a:effectLst/>
                          <a:latin typeface="Roboto" panose="02000000000000000000" pitchFamily="2" charset="0"/>
                        </a:rPr>
                        <a:t>Regional service</a:t>
                      </a: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537034302"/>
                  </a:ext>
                </a:extLst>
              </a:tr>
              <a:tr h="134058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>
                          <a:effectLst/>
                        </a:rPr>
                        <a:t>Data residency</a:t>
                      </a:r>
                    </a:p>
                  </a:txBody>
                  <a:tcPr marL="50800" marR="50800" marT="44450" marB="508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solidFill>
                            <a:srgbClr val="1A73E8"/>
                          </a:solidFill>
                          <a:effectLst/>
                          <a:hlinkClick r:id="rId2"/>
                        </a:rPr>
                        <a:t>User managed replication</a:t>
                      </a:r>
                      <a:r>
                        <a:rPr lang="en-US">
                          <a:effectLst/>
                        </a:rPr>
                        <a:t> to specific regions or </a:t>
                      </a:r>
                      <a:r>
                        <a:rPr lang="en-US">
                          <a:solidFill>
                            <a:srgbClr val="1A73E8"/>
                          </a:solidFill>
                          <a:effectLst/>
                          <a:hlinkClick r:id="rId3"/>
                        </a:rPr>
                        <a:t>automatic replication</a:t>
                      </a:r>
                      <a:r>
                        <a:rPr lang="en-US">
                          <a:effectLst/>
                        </a:rPr>
                        <a:t> without any restriction.</a:t>
                      </a:r>
                    </a:p>
                  </a:txBody>
                  <a:tcPr marL="50800" marR="50800" marT="44450" marB="508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Data is stored in a single location. Complete data residency zone (DRZ) compliance with data at-rest, in-use, and in-transit.</a:t>
                      </a:r>
                    </a:p>
                  </a:txBody>
                  <a:tcPr marL="50800" marR="50800" marT="44450" marB="50800"/>
                </a:tc>
                <a:extLst>
                  <a:ext uri="{0D108BD9-81ED-4DB2-BD59-A6C34878D82A}">
                    <a16:rowId xmlns:a16="http://schemas.microsoft.com/office/drawing/2014/main" val="2460564295"/>
                  </a:ext>
                </a:extLst>
              </a:tr>
              <a:tr h="41687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>
                          <a:effectLst/>
                        </a:rPr>
                        <a:t>Endpoints</a:t>
                      </a:r>
                    </a:p>
                  </a:txBody>
                  <a:tcPr marL="50800" marR="50800" marT="44450" marB="508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>
                          <a:effectLst/>
                        </a:rPr>
                        <a:t>Single, global endpoint</a:t>
                      </a:r>
                    </a:p>
                  </a:txBody>
                  <a:tcPr marL="50800" marR="50800" marT="44450" marB="508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>
                          <a:effectLst/>
                        </a:rPr>
                        <a:t>Regional endpoints</a:t>
                      </a:r>
                    </a:p>
                  </a:txBody>
                  <a:tcPr marL="50800" marR="50800" marT="44450" marB="50800"/>
                </a:tc>
                <a:extLst>
                  <a:ext uri="{0D108BD9-81ED-4DB2-BD59-A6C34878D82A}">
                    <a16:rowId xmlns:a16="http://schemas.microsoft.com/office/drawing/2014/main" val="3638417846"/>
                  </a:ext>
                </a:extLst>
              </a:tr>
              <a:tr h="103220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>
                          <a:effectLst/>
                        </a:rPr>
                        <a:t>Cross-region access</a:t>
                      </a:r>
                    </a:p>
                  </a:txBody>
                  <a:tcPr marL="50800" marR="50800" marT="44450" marB="508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dirty="0">
                          <a:effectLst/>
                        </a:rPr>
                        <a:t>Possible with both user managed replication and automatic replication.</a:t>
                      </a:r>
                    </a:p>
                  </a:txBody>
                  <a:tcPr marL="50800" marR="50800" marT="44450" marB="508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Not possible. Secret data is tightly restricted to your region of choice and doesn't flow outside its boundaries.</a:t>
                      </a:r>
                    </a:p>
                  </a:txBody>
                  <a:tcPr marL="50800" marR="50800" marT="44450" marB="50800"/>
                </a:tc>
                <a:extLst>
                  <a:ext uri="{0D108BD9-81ED-4DB2-BD59-A6C34878D82A}">
                    <a16:rowId xmlns:a16="http://schemas.microsoft.com/office/drawing/2014/main" val="3330501874"/>
                  </a:ext>
                </a:extLst>
              </a:tr>
              <a:tr h="251412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>
                          <a:effectLst/>
                        </a:rPr>
                        <a:t>Use cases</a:t>
                      </a:r>
                    </a:p>
                  </a:txBody>
                  <a:tcPr marL="50800" marR="50800" marT="44450" marB="50800"/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200"/>
                        </a:spcAft>
                        <a:buNone/>
                      </a:pPr>
                      <a:r>
                        <a:rPr lang="en-US">
                          <a:effectLst/>
                        </a:rPr>
                        <a:t>General secret management</a:t>
                      </a:r>
                    </a:p>
                    <a:p>
                      <a:pPr algn="l" fontAlgn="t">
                        <a:spcBef>
                          <a:spcPts val="900"/>
                        </a:spcBef>
                        <a:spcAft>
                          <a:spcPts val="9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>
                          <a:effectLst/>
                        </a:rPr>
                        <a:t>Your data doesn't have to be stored in a specific region.</a:t>
                      </a:r>
                    </a:p>
                    <a:p>
                      <a:pPr algn="l" fontAlgn="t">
                        <a:spcBef>
                          <a:spcPts val="9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>
                          <a:effectLst/>
                        </a:rPr>
                        <a:t>You are only concerned with availability and latency of data, and not regulatory requirements.</a:t>
                      </a:r>
                    </a:p>
                  </a:txBody>
                  <a:tcPr marL="50800" marR="50800" marT="44450" marB="50800"/>
                </a:tc>
                <a:tc>
                  <a:txBody>
                    <a:bodyPr/>
                    <a:lstStyle/>
                    <a:p>
                      <a:pPr algn="l" fontAlgn="t">
                        <a:spcAft>
                          <a:spcPts val="1200"/>
                        </a:spcAft>
                        <a:buNone/>
                      </a:pPr>
                      <a:r>
                        <a:rPr lang="en-US" dirty="0">
                          <a:effectLst/>
                        </a:rPr>
                        <a:t>Strict data residency requirements</a:t>
                      </a:r>
                    </a:p>
                    <a:p>
                      <a:pPr algn="l" fontAlgn="t">
                        <a:spcBef>
                          <a:spcPts val="900"/>
                        </a:spcBef>
                        <a:spcAft>
                          <a:spcPts val="9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effectLst/>
                        </a:rPr>
                        <a:t>Your data must be stored in a specific region.</a:t>
                      </a:r>
                    </a:p>
                    <a:p>
                      <a:pPr algn="l" fontAlgn="t">
                        <a:spcBef>
                          <a:spcPts val="9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effectLst/>
                        </a:rPr>
                        <a:t>You want to restrict movement of your sensitive data within that specific boundary,</a:t>
                      </a:r>
                    </a:p>
                  </a:txBody>
                  <a:tcPr marL="50800" marR="50800" marT="44450" marB="50800"/>
                </a:tc>
                <a:extLst>
                  <a:ext uri="{0D108BD9-81ED-4DB2-BD59-A6C34878D82A}">
                    <a16:rowId xmlns:a16="http://schemas.microsoft.com/office/drawing/2014/main" val="5823018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2950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86FED-1DAE-38D9-B19A-3D70E0D11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1DB6A-2B4E-8EF6-F5C0-EBF934CFC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" y="122131"/>
            <a:ext cx="10177599" cy="763989"/>
          </a:xfrm>
        </p:spPr>
        <p:txBody>
          <a:bodyPr>
            <a:normAutofit/>
          </a:bodyPr>
          <a:lstStyle/>
          <a:p>
            <a:r>
              <a:rPr lang="en-IN" dirty="0"/>
              <a:t>Secret replication policy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BED68BA-93B1-FCBD-6857-CBB58C89F6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658" y="969484"/>
            <a:ext cx="9530771" cy="5583715"/>
          </a:xfrm>
        </p:spPr>
        <p:txBody>
          <a:bodyPr>
            <a:normAutofit fontScale="92500" lnSpcReduction="20000"/>
          </a:bodyPr>
          <a:lstStyle/>
          <a:p>
            <a:r>
              <a:rPr lang="en-IN" sz="2400" dirty="0"/>
              <a:t>Automatic secret replication policy  </a:t>
            </a:r>
          </a:p>
          <a:p>
            <a:pPr lvl="1"/>
            <a:r>
              <a:rPr lang="en-US" sz="2000" dirty="0"/>
              <a:t>A secret with an automatic replication policy has its payload data replicated without restriction. </a:t>
            </a:r>
          </a:p>
          <a:p>
            <a:pPr lvl="1"/>
            <a:r>
              <a:rPr lang="en-US" sz="2000" dirty="0"/>
              <a:t>This is the simplest configuration and is recommended for most users. </a:t>
            </a:r>
          </a:p>
          <a:p>
            <a:pPr lvl="1"/>
            <a:r>
              <a:rPr lang="en-US" sz="2000" dirty="0"/>
              <a:t>For </a:t>
            </a:r>
            <a:r>
              <a:rPr lang="en-US" sz="2000" dirty="0">
                <a:hlinkClick r:id="rId2"/>
              </a:rPr>
              <a:t>billing purposes</a:t>
            </a:r>
            <a:r>
              <a:rPr lang="en-US" sz="2000" dirty="0"/>
              <a:t>, a secret with an automatic replication policy is considered to be stored in a single location. </a:t>
            </a:r>
          </a:p>
          <a:p>
            <a:endParaRPr lang="en-US" sz="3600" dirty="0"/>
          </a:p>
          <a:p>
            <a:r>
              <a:rPr lang="en-IN" sz="2400" dirty="0"/>
              <a:t>User-managed secret replication policy</a:t>
            </a:r>
          </a:p>
          <a:p>
            <a:pPr lvl="1"/>
            <a:r>
              <a:rPr lang="en-US" sz="2000" dirty="0"/>
              <a:t>A secret with a user-managed replication policy has its payload data replicated to a user configured set of locations. </a:t>
            </a:r>
          </a:p>
          <a:p>
            <a:pPr lvl="1"/>
            <a:r>
              <a:rPr lang="en-US" sz="2000" dirty="0"/>
              <a:t>The secret can be replicated to any number of </a:t>
            </a:r>
            <a:r>
              <a:rPr lang="en-US" sz="2000" dirty="0">
                <a:hlinkClick r:id="rId3"/>
              </a:rPr>
              <a:t>supported locations</a:t>
            </a:r>
            <a:r>
              <a:rPr lang="en-US" sz="2000" dirty="0"/>
              <a:t>. This may be useful if there are requirements around where the secret payload data can be stored. </a:t>
            </a:r>
          </a:p>
          <a:p>
            <a:pPr lvl="1"/>
            <a:r>
              <a:rPr lang="en-US" sz="2000" dirty="0"/>
              <a:t>For </a:t>
            </a:r>
            <a:r>
              <a:rPr lang="en-US" sz="2000" dirty="0">
                <a:hlinkClick r:id="rId2"/>
              </a:rPr>
              <a:t>billing purposes</a:t>
            </a:r>
            <a:r>
              <a:rPr lang="en-US" sz="2000" dirty="0"/>
              <a:t>, each location in the user-managed replication policy is considered a separate location.</a:t>
            </a:r>
            <a:br>
              <a:rPr lang="en-US" dirty="0"/>
            </a:b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242133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3A668-900A-21FF-0B84-3D9343DC8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71A01-255E-55DB-9D1A-12D96F722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" y="122131"/>
            <a:ext cx="10177599" cy="763989"/>
          </a:xfrm>
        </p:spPr>
        <p:txBody>
          <a:bodyPr>
            <a:normAutofit/>
          </a:bodyPr>
          <a:lstStyle/>
          <a:p>
            <a:r>
              <a:rPr lang="en-IN" dirty="0"/>
              <a:t>Annotations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054C751-628D-44F1-EFEF-961618CB99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658" y="969484"/>
            <a:ext cx="9911771" cy="5583715"/>
          </a:xfrm>
        </p:spPr>
        <p:txBody>
          <a:bodyPr>
            <a:normAutofit/>
          </a:bodyPr>
          <a:lstStyle/>
          <a:p>
            <a:r>
              <a:rPr lang="en-US" dirty="0"/>
              <a:t>You can use annotations to store custom metadata about a secret. For example, you might want to annotate a secret with the path it'll be mounted at. </a:t>
            </a:r>
          </a:p>
          <a:p>
            <a:r>
              <a:rPr lang="en-US" dirty="0"/>
              <a:t>To categorize secrets based on their purpose, environment (development, staging, production), or sensitivity level. This makes it easier to search, filter, and organize secrets within Secret Manager.</a:t>
            </a:r>
          </a:p>
          <a:p>
            <a:r>
              <a:rPr lang="en-US" dirty="0"/>
              <a:t>To indicate the specific format or structure of the secret's value, helping the workload interpret it correctly.</a:t>
            </a:r>
          </a:p>
          <a:p>
            <a:r>
              <a:rPr lang="en-US" dirty="0"/>
              <a:t>To provide hints about how the secret should be used or any special considerations for its handling.</a:t>
            </a:r>
          </a:p>
          <a:p>
            <a:r>
              <a:rPr lang="en-US" dirty="0"/>
              <a:t>These annotations make it easy to identify the secret's purpose, its environment, and who's responsible for it. Additionally, a workload accessing this secret can use the annotations to confirm that it's using the right password for the production environment.</a:t>
            </a:r>
          </a:p>
          <a:p>
            <a:r>
              <a:rPr lang="en-US" dirty="0"/>
              <a:t>Annotations are not the same as labels. Labels are used for sorting, filtering, and grouping resources, whereas annotations are used to store arbitrary, non-identifying metadata on a secret.</a:t>
            </a:r>
          </a:p>
          <a:p>
            <a:r>
              <a:rPr lang="en-US" dirty="0"/>
              <a:t>The metadata in an annotation can be small or large, structured or unstructured, and can include characters not permitted by labels.</a:t>
            </a:r>
          </a:p>
          <a:p>
            <a:endParaRPr lang="en-US" dirty="0"/>
          </a:p>
          <a:p>
            <a:endParaRPr lang="en-IN" dirty="0"/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784460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CE480-4C47-F437-C2C4-50C9CA0CF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03828-02DC-38E4-427A-AAD8F80EE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" y="122131"/>
            <a:ext cx="10177599" cy="763989"/>
          </a:xfrm>
        </p:spPr>
        <p:txBody>
          <a:bodyPr>
            <a:normAutofit/>
          </a:bodyPr>
          <a:lstStyle/>
          <a:p>
            <a:r>
              <a:rPr lang="en-US" dirty="0"/>
              <a:t>Expiration date for a secret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D1904A1-4562-DF51-1059-B7A80835FC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658" y="969484"/>
            <a:ext cx="9911771" cy="5583715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/>
              <a:t>By default, secrets stored in Secret Manager exist until a user deletes them. </a:t>
            </a:r>
          </a:p>
          <a:p>
            <a:r>
              <a:rPr lang="en-US" sz="2800" dirty="0"/>
              <a:t>If a secret must only be stored for a known, limited amount of time, you can attach an expiration time to it. At a secret's configured expiration time, it is automatically deleted. </a:t>
            </a:r>
          </a:p>
          <a:p>
            <a:r>
              <a:rPr lang="en-US" sz="2800" dirty="0"/>
              <a:t>A secret's expiration cannot be less than 60 seconds away or more than 100 years away.</a:t>
            </a:r>
          </a:p>
          <a:p>
            <a:r>
              <a:rPr lang="en-US" sz="2800" dirty="0"/>
              <a:t>When a secret expires in Secret Manager, it is </a:t>
            </a:r>
            <a:r>
              <a:rPr lang="en-US" sz="2800" i="1" dirty="0"/>
              <a:t>irreversibly deleted</a:t>
            </a:r>
            <a:r>
              <a:rPr lang="en-US" sz="2800" dirty="0"/>
              <a:t>. The best way to detect soon-to-expire secrets is by using </a:t>
            </a:r>
            <a:r>
              <a:rPr lang="en-US" sz="2800" dirty="0">
                <a:hlinkClick r:id="rId2"/>
              </a:rPr>
              <a:t>IAM Conditions</a:t>
            </a:r>
            <a:r>
              <a:rPr lang="en-US" sz="2800" dirty="0"/>
              <a:t> to remove permissions from the accounts that use the secret prior to expiration.</a:t>
            </a:r>
          </a:p>
          <a:p>
            <a:r>
              <a:rPr lang="en-US" sz="2800" b="1" dirty="0">
                <a:solidFill>
                  <a:srgbClr val="FF0000"/>
                </a:solidFill>
              </a:rPr>
              <a:t>Warning:</a:t>
            </a:r>
            <a:r>
              <a:rPr lang="en-US" sz="2800" dirty="0">
                <a:solidFill>
                  <a:srgbClr val="FF0000"/>
                </a:solidFill>
              </a:rPr>
              <a:t> At expiration time, the secret and all of its secret versions are irreversibly deleted without warning.</a:t>
            </a:r>
          </a:p>
          <a:p>
            <a:endParaRPr lang="en-IN" dirty="0"/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496789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5CBA6-D4C8-35E7-0DE7-F776B2129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02A2B-B5D8-0DE8-C1D9-8647A9A45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" y="122131"/>
            <a:ext cx="10177599" cy="763989"/>
          </a:xfrm>
        </p:spPr>
        <p:txBody>
          <a:bodyPr>
            <a:normAutofit/>
          </a:bodyPr>
          <a:lstStyle/>
          <a:p>
            <a:r>
              <a:rPr lang="en-US" dirty="0"/>
              <a:t>Expiration date for a secret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461B795-838D-4C70-8CC2-8CD3A10DF7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658" y="969484"/>
            <a:ext cx="9911771" cy="5583715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/>
              <a:t>By default, secrets stored in Secret Manager exist until a user deletes them. </a:t>
            </a:r>
          </a:p>
          <a:p>
            <a:r>
              <a:rPr lang="en-US" sz="2800" dirty="0"/>
              <a:t>If a secret must only be stored for a known, limited amount of time, you can attach an expiration time to it. At a secret's configured expiration time, it is automatically deleted. </a:t>
            </a:r>
          </a:p>
          <a:p>
            <a:r>
              <a:rPr lang="en-US" sz="2800" dirty="0"/>
              <a:t>A secret's expiration cannot be less than 60 seconds away or more than 100 years away.</a:t>
            </a:r>
          </a:p>
          <a:p>
            <a:r>
              <a:rPr lang="en-US" sz="2800" dirty="0"/>
              <a:t>When a secret expires in Secret Manager, it is </a:t>
            </a:r>
            <a:r>
              <a:rPr lang="en-US" sz="2800" i="1" dirty="0"/>
              <a:t>irreversibly deleted</a:t>
            </a:r>
            <a:r>
              <a:rPr lang="en-US" sz="2800" dirty="0"/>
              <a:t>. The best way to detect soon-to-expire secrets is by using </a:t>
            </a:r>
            <a:r>
              <a:rPr lang="en-US" sz="2800" dirty="0">
                <a:hlinkClick r:id="rId2"/>
              </a:rPr>
              <a:t>IAM Conditions</a:t>
            </a:r>
            <a:r>
              <a:rPr lang="en-US" sz="2800" dirty="0"/>
              <a:t> to remove permissions from the accounts that use the secret prior to expiration.</a:t>
            </a:r>
          </a:p>
          <a:p>
            <a:r>
              <a:rPr lang="en-US" sz="2800" b="1" dirty="0">
                <a:solidFill>
                  <a:srgbClr val="FF0000"/>
                </a:solidFill>
              </a:rPr>
              <a:t>Warning:</a:t>
            </a:r>
            <a:r>
              <a:rPr lang="en-US" sz="2800" dirty="0">
                <a:solidFill>
                  <a:srgbClr val="FF0000"/>
                </a:solidFill>
              </a:rPr>
              <a:t> At expiration time, the secret and all of its secret versions are irreversibly deleted without warning.</a:t>
            </a:r>
          </a:p>
          <a:p>
            <a:endParaRPr lang="en-IN" dirty="0"/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70964603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4350</TotalTime>
  <Words>1105</Words>
  <Application>Microsoft Office PowerPoint</Application>
  <PresentationFormat>Widescreen</PresentationFormat>
  <Paragraphs>81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Arial</vt:lpstr>
      <vt:lpstr>Roboto</vt:lpstr>
      <vt:lpstr>Trebuchet MS</vt:lpstr>
      <vt:lpstr>Wingdings 3</vt:lpstr>
      <vt:lpstr>Facet</vt:lpstr>
      <vt:lpstr>Secrets Manager</vt:lpstr>
      <vt:lpstr>Use Cases Of Secret Manager   </vt:lpstr>
      <vt:lpstr>Difference between secrets management and key management</vt:lpstr>
      <vt:lpstr>Compare global and regional service</vt:lpstr>
      <vt:lpstr>Secret replication policy</vt:lpstr>
      <vt:lpstr>Annotations</vt:lpstr>
      <vt:lpstr>Expiration date for a secret</vt:lpstr>
      <vt:lpstr>Expiration date for a secret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Firewall Policies</dc:title>
  <dc:creator>ROHAN MADAN</dc:creator>
  <cp:lastModifiedBy>ROHAN MADAN</cp:lastModifiedBy>
  <cp:revision>64</cp:revision>
  <dcterms:created xsi:type="dcterms:W3CDTF">2023-01-18T10:29:04Z</dcterms:created>
  <dcterms:modified xsi:type="dcterms:W3CDTF">2026-01-08T17:36:23Z</dcterms:modified>
</cp:coreProperties>
</file>